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premise: this is not a CRM feature launch. It is a shared operating system for how elite account teams think, plan, and coach strategic pursuits.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emotional frame: this is about raising the standard of account thinking. The team already has talent; SAOS gives that talent a common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familiar logos verbally if desired. The slide is deliberately category-based so it works for the whole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from product to executive language. Push the team to phrase GPC capabilities in customer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beliefs are a useful executive summary of the entire handbook.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feel like a sales motion, not a form list. The flow moves from why this account to what happens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tiering is not bureaucracy. It is resource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transition: if we cannot articulate why the account matters, the rest of the plan becomes busywork.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methodology. Push for a change thesis, not a product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great slide for team discussion. Ask people to rewrite weak product pitches into change 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show why generic messaging fails. Strategic accounts are balancing internal contradictions.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helps reps sound like they understand the business. The account is not just choosing a provider; they are resolving a tradeoff.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Blindspots are not weaknesses. They are the agenda for earning better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managers to praise honest unknowns. The issue is not having gaps; the issue is not converting gaps into next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MEDDPICC enters the plan: champion and economic buyer are explicit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likely high-value coaching moment. Ask the team where they have confused a friendly contact for a champion.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move teams from "we need to get higher" to an actual plan for getting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is designed before close, not discovered after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white space is not everything we could sell. It is a designed path from wedge to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incumbent is there for a reason. Understanding that reason improves our displacement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helps avoid lazy competitor talk. Great displacement respects why the current provider still has the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selling happens through individuals with different motivations, styles, and fears.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section is the practical pre-call companion. It should make the next customer conversation sharper.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accounts with the same technical problem may require completely different pursuit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this is not about shortcutting procurement. It is about finding the legitimate path through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methodology becomes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change behavior immediately. Ask reps to name the customer commitment required for every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Momentum is not guessed. It is logged through changes in access, learning, pain, commitments, and urgency.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best way to explain the signals-only export policy. Executives need meaningful change, not every CRM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a coaching rhythm. The manager question becomes: what did the plan teach us this week?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useful slide to define what good looks like without over-policing completion percentage.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diagnostic checklist for early adoption. If these appear, the plan needs coaching, not more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interactive section for the retreat. Keep it simple. The power is in comparing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line is sticky. It turns SAOS from data entry into learning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 launch baseline. You can adjust the exact standard before the retreat.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nice close before the final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energy. This is the hard launch of a team standard, not a software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D5DE"/>
                </a:solidFill>
              </a:rPr>
              <a:t>GREAT PLAINS COMMUNICATIONS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66928" y="1828800"/>
            <a:ext cx="1417320" cy="73152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4884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Strategic Account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Operating System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66928" y="382219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5DE"/>
                </a:solidFill>
              </a:rPr>
              <a:t>Retreat rollout deck | Strategic Accounts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53949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CA3C"/>
                </a:solidFill>
              </a:rPr>
              <a:t>Turn account knowledge into account strategy.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0" y="0"/>
            <a:ext cx="2743200" cy="6858000"/>
          </a:xfrm>
          <a:prstGeom prst="rtTriangle">
            <a:avLst/>
          </a:prstGeom>
          <a:solidFill>
            <a:srgbClr val="1181AA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0"/>
            <a:ext cx="2331720" cy="6858000"/>
          </a:xfrm>
          <a:prstGeom prst="rtTriangle">
            <a:avLst/>
          </a:prstGeom>
          <a:solidFill>
            <a:srgbClr val="051B2D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3" name="Text 10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01</a:t>
            </a:r>
            <a:endParaRPr lang="en-US" sz="6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Why we are launching SAOS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Strategic accounts need strategic judgment, not another place to type notes.</a:t>
            </a:r>
            <a:endParaRPr lang="en-US" sz="1070" dirty="0"/>
          </a:p>
        </p:txBody>
      </p:sp>
      <p:sp>
        <p:nvSpPr>
          <p:cNvPr id="5" name="Text 3"/>
          <p:cNvSpPr/>
          <p:nvPr/>
        </p:nvSpPr>
        <p:spPr>
          <a:xfrm>
            <a:off x="786384" y="20299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CRM captures activity.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SAOS captures judgment.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172200" y="2039112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7" name="Text 5"/>
          <p:cNvSpPr/>
          <p:nvPr/>
        </p:nvSpPr>
        <p:spPr>
          <a:xfrm>
            <a:off x="6428232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Understand operating reality better than anyone else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172200" y="2660904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587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Turn individual instincts into a repeatable team discipline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172200" y="3282696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3209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Explain why the account would change, why now, and why GPC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5" name="Text 12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02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The accounts we are built to win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Multi-location, high-visibility, large-wallet enterprises where network decisions affect business outcomes.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3429000" cy="24688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20240"/>
            <a:ext cx="54864" cy="246888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031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PROFILE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32688" y="254203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Complex operators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32688" y="2999232"/>
            <a:ext cx="29900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Distributed sites, HQ influence, operational dependencies, IT/security/procurement complexity.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429000" cy="24688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920240"/>
            <a:ext cx="54864" cy="246888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0288" y="21031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19456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PRESSURE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608576" y="254203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High consequence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608576" y="2999232"/>
            <a:ext cx="29900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Outages, application performance, security risk, cloud access, public trust, customer experience.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8065008" y="1920240"/>
            <a:ext cx="3429000" cy="246888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1920240"/>
            <a:ext cx="54864" cy="246888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6176" y="21031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19456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GPC EDGE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284464" y="254203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Local + enterprise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8284464" y="2999232"/>
            <a:ext cx="29900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Midwest network depth, responsive local teams, 24/7 NOC, custom solutions, managed services.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03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The central translation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Customers do not buy network connectivity in the abstract.</a:t>
            </a:r>
            <a:endParaRPr lang="en-US" sz="1070" dirty="0"/>
          </a:p>
        </p:txBody>
      </p:sp>
      <p:sp>
        <p:nvSpPr>
          <p:cNvPr id="5" name="Text 3"/>
          <p:cNvSpPr/>
          <p:nvPr/>
        </p:nvSpPr>
        <p:spPr>
          <a:xfrm>
            <a:off x="841248" y="2029968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</a:rPr>
              <a:t>They buy business confidence.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3255264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31821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Reduced operational fragility</a:t>
            </a:r>
            <a:endParaRPr lang="en-US" sz="1330" dirty="0"/>
          </a:p>
        </p:txBody>
      </p:sp>
      <p:sp>
        <p:nvSpPr>
          <p:cNvPr id="8" name="Shape 6"/>
          <p:cNvSpPr/>
          <p:nvPr/>
        </p:nvSpPr>
        <p:spPr>
          <a:xfrm>
            <a:off x="914400" y="3639312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35661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More resilient multi-site operations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9502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Lower security and continuity risk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914400" y="4407408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33425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Better customer, patient, student, citizen, or employee experience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914400" y="4791456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7183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A provider they can trust when something goes sideways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7635240" y="2176272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2176272"/>
            <a:ext cx="64008" cy="1828800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18" name="Text 16"/>
          <p:cNvSpPr/>
          <p:nvPr/>
        </p:nvSpPr>
        <p:spPr>
          <a:xfrm>
            <a:off x="7891272" y="240487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9CCA3C"/>
                </a:solidFill>
              </a:rPr>
              <a:t>EXECUTIVE LANGUAGE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891272" y="277063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Translate every GPC capability into the risk it removes or the confidence it creates.</a:t>
            </a:r>
            <a:endParaRPr lang="en-US" sz="1540" dirty="0"/>
          </a:p>
        </p:txBody>
      </p:sp>
      <p:sp>
        <p:nvSpPr>
          <p:cNvPr id="21" name="Shape 18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3" name="Text 20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04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Five beliefs behind SAOS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methodology rests on a few non-negotiable selling truths.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41248" y="1783080"/>
            <a:ext cx="393192" cy="301752"/>
          </a:xfrm>
          <a:prstGeom prst="roundRect">
            <a:avLst>
              <a:gd name="adj" fmla="val 12121"/>
            </a:avLst>
          </a:prstGeom>
          <a:solidFill>
            <a:srgbClr val="1181A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56232"/>
            <a:ext cx="393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81328" y="176479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172A"/>
                </a:solidFill>
              </a:rPr>
              <a:t>Strategic selling starts with account selection.</a:t>
            </a:r>
            <a:endParaRPr lang="en-US" sz="1530" dirty="0"/>
          </a:p>
        </p:txBody>
      </p:sp>
      <p:sp>
        <p:nvSpPr>
          <p:cNvPr id="8" name="Shape 6"/>
          <p:cNvSpPr/>
          <p:nvPr/>
        </p:nvSpPr>
        <p:spPr>
          <a:xfrm>
            <a:off x="841248" y="2386584"/>
            <a:ext cx="393192" cy="301752"/>
          </a:xfrm>
          <a:prstGeom prst="roundRect">
            <a:avLst>
              <a:gd name="adj" fmla="val 12121"/>
            </a:avLst>
          </a:prstGeom>
          <a:solidFill>
            <a:srgbClr val="1181A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59736"/>
            <a:ext cx="393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1328" y="2368296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172A"/>
                </a:solidFill>
              </a:rPr>
              <a:t>Status quo is the real competitor.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841248" y="2990088"/>
            <a:ext cx="393192" cy="301752"/>
          </a:xfrm>
          <a:prstGeom prst="roundRect">
            <a:avLst>
              <a:gd name="adj" fmla="val 12121"/>
            </a:avLst>
          </a:prstGeom>
          <a:solidFill>
            <a:srgbClr val="1181A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063240"/>
            <a:ext cx="393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81328" y="2971800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172A"/>
                </a:solidFill>
              </a:rPr>
              <a:t>The org chart is not the buying map.</a:t>
            </a:r>
            <a:endParaRPr lang="en-US" sz="1530" dirty="0"/>
          </a:p>
        </p:txBody>
      </p:sp>
      <p:sp>
        <p:nvSpPr>
          <p:cNvPr id="14" name="Shape 12"/>
          <p:cNvSpPr/>
          <p:nvPr/>
        </p:nvSpPr>
        <p:spPr>
          <a:xfrm>
            <a:off x="841248" y="3593592"/>
            <a:ext cx="393192" cy="301752"/>
          </a:xfrm>
          <a:prstGeom prst="roundRect">
            <a:avLst>
              <a:gd name="adj" fmla="val 12121"/>
            </a:avLst>
          </a:prstGeom>
          <a:solidFill>
            <a:srgbClr val="1181A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666744"/>
            <a:ext cx="393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81328" y="3575304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172A"/>
                </a:solidFill>
              </a:rPr>
              <a:t>Expansion is designed before the first deal closes.</a:t>
            </a:r>
            <a:endParaRPr lang="en-US" sz="1530" dirty="0"/>
          </a:p>
        </p:txBody>
      </p:sp>
      <p:sp>
        <p:nvSpPr>
          <p:cNvPr id="17" name="Shape 15"/>
          <p:cNvSpPr/>
          <p:nvPr/>
        </p:nvSpPr>
        <p:spPr>
          <a:xfrm>
            <a:off x="841248" y="4197096"/>
            <a:ext cx="393192" cy="301752"/>
          </a:xfrm>
          <a:prstGeom prst="roundRect">
            <a:avLst>
              <a:gd name="adj" fmla="val 12121"/>
            </a:avLst>
          </a:prstGeom>
          <a:solidFill>
            <a:srgbClr val="1181A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270248"/>
            <a:ext cx="393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81328" y="417880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0F172A"/>
                </a:solidFill>
              </a:rPr>
              <a:t>Momentum must be logged, not guessed.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7726680" y="187452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1874520"/>
            <a:ext cx="64008" cy="178308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22" name="Text 20"/>
          <p:cNvSpPr/>
          <p:nvPr/>
        </p:nvSpPr>
        <p:spPr>
          <a:xfrm>
            <a:off x="7982712" y="210312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181AA"/>
                </a:solidFill>
              </a:rPr>
              <a:t>METHOD, NOT FORM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7982712" y="2468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The tool is only valuable if it changes how we inspect accounts and coach judgment.</a:t>
            </a:r>
            <a:endParaRPr lang="en-US" sz="1540" dirty="0"/>
          </a:p>
        </p:txBody>
      </p:sp>
      <p:sp>
        <p:nvSpPr>
          <p:cNvPr id="25" name="Shape 22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7" name="Text 24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05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The SAOS 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A pursuit moves from account selection to execution discipline.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768096" y="1828800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EEF5F8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47672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01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298448" y="1929384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Account Snapshot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4498848" y="1828800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EEF5F8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947672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02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5029200" y="1929384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The Big Play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947672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03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8759952" y="1929384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Competing Priorities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768096" y="2487168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606040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04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298448" y="258775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The Blindspots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498848" y="2487168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606040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05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5029200" y="258775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Influence Mapping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8229600" y="2487168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606040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06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8759952" y="258775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Account Expansion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68096" y="3145536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26440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07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98448" y="3246120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The Battlefield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498848" y="3145536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26440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08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029200" y="3246120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Strategic Entry Points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8229600" y="3145536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26440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09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8759952" y="3246120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How They Buy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768096" y="3803904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392277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10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298448" y="3904488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30 / 60 / 90 Plan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4498848" y="3803904"/>
            <a:ext cx="3218688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8890">
            <a:solidFill>
              <a:srgbClr val="D9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36008" y="392277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181AA"/>
                </a:solidFill>
              </a:rPr>
              <a:t>11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5029200" y="3904488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Relationship Timeline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41" name="Text 38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06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Account Snapshot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The investment thesis: why this account deserves strategic attention.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07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Account Snapshot: the discussion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question is not "is this account big?" The question is "what kind of pursuit is this?"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202996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Logo, wallet, wedge, reference, defense play, or all of the above?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50545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What is the expansion potential and strategic timing?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68680" y="3054096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98094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How patient should we be?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68680" y="3529584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45643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Does this account deserve executive sponsorship from our side?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68680" y="4736592"/>
            <a:ext cx="9692640" cy="786384"/>
          </a:xfrm>
          <a:prstGeom prst="roundRect">
            <a:avLst>
              <a:gd name="adj" fmla="val 9302"/>
            </a:avLst>
          </a:prstGeom>
          <a:solidFill>
            <a:srgbClr val="FBFD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36592"/>
            <a:ext cx="64008" cy="786384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" y="4919472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9CCA3C">
              <a:alpha val="11000"/>
            </a:srgbClr>
          </a:solidFill>
          <a:ln w="10160">
            <a:solidFill>
              <a:srgbClr val="9CCA3C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5010912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9CCA3C"/>
                </a:solidFill>
              </a:rPr>
              <a:t>MANAGER PROMPT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88136" y="5257800"/>
            <a:ext cx="9253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0F172A"/>
                </a:solidFill>
              </a:rPr>
              <a:t>Why this account, and why now?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1" name="Text 18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08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Big Play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The boardroom reason to change.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09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Product language vs. change language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customer has to feel the cost of standing still.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983480" cy="2331720"/>
          </a:xfrm>
          <a:prstGeom prst="roundRect">
            <a:avLst>
              <a:gd name="adj" fmla="val 3529"/>
            </a:avLst>
          </a:prstGeom>
          <a:solidFill>
            <a:srgbClr val="FFF8F1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54864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1031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B45309">
              <a:alpha val="11000"/>
            </a:srgbClr>
          </a:solidFill>
          <a:ln w="10160">
            <a:solidFill>
              <a:srgbClr val="B45309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19456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5309"/>
                </a:solidFill>
              </a:rPr>
              <a:t>WEAK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96696" y="2542032"/>
            <a:ext cx="4544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Sell SD-WAN and DIA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96696" y="2999232"/>
            <a:ext cx="4544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Product-first language. It describes what we want to sell, not why the account must change.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6327648" y="1920240"/>
            <a:ext cx="4983480" cy="233172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920240"/>
            <a:ext cx="54864" cy="233172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3" name="Shape 11"/>
          <p:cNvSpPr/>
          <p:nvPr/>
        </p:nvSpPr>
        <p:spPr>
          <a:xfrm>
            <a:off x="6528816" y="21031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219456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STRONG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547104" y="2542032"/>
            <a:ext cx="4544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Their branch model is too fragile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547104" y="2999232"/>
            <a:ext cx="4544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Business-first language. It names risk, urgency, executive relevance, and why GPC is credible.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10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Competing Priorities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Name the tension, then solve through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11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Tensions create the real buying story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strongest message respects both sides of the tradeoff.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9385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Scale vs. reliability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3042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Innovation vs. governance/security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6700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Cost vs. agility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868680" y="310896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035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Cloud vs. control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868680" y="347472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401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Speed vs. stability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37673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Centralization vs. flexibility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5669280" y="1828800"/>
            <a:ext cx="0" cy="2743200"/>
          </a:xfrm>
          <a:prstGeom prst="line">
            <a:avLst/>
          </a:prstGeom>
          <a:noFill/>
          <a:ln w="13970">
            <a:solidFill>
              <a:srgbClr val="D9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90195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99339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EXAMPLE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63640" y="2514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Move faster into cloud without giving up performance visibility, security, and local accountability.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12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Blindspots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Discovery discipline: convert uncertainty into the next question.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13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Blindspots protect us from fake confidence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A strong plan is honest about what it does not know.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2039112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9659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Unknown procurement process</a:t>
            </a:r>
            <a:endParaRPr lang="en-US" sz="1330" dirty="0"/>
          </a:p>
        </p:txBody>
      </p:sp>
      <p:sp>
        <p:nvSpPr>
          <p:cNvPr id="7" name="Shape 5"/>
          <p:cNvSpPr/>
          <p:nvPr/>
        </p:nvSpPr>
        <p:spPr>
          <a:xfrm>
            <a:off x="868680" y="2386584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3134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Unknown incumbent contract term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868680" y="2734056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6609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Unknown executive sponsor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868680" y="3081528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0083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Unknown technical risk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868680" y="3429000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3558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Unknown budget owner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868680" y="3776472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37033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Unknown pain severity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5989320" y="1965960"/>
            <a:ext cx="5074920" cy="1755648"/>
          </a:xfrm>
          <a:prstGeom prst="roundRect">
            <a:avLst>
              <a:gd name="adj" fmla="val 4688"/>
            </a:avLst>
          </a:prstGeom>
          <a:solidFill>
            <a:srgbClr val="FBFD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965960"/>
            <a:ext cx="54864" cy="1755648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0488" y="214884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9CCA3C">
              <a:alpha val="11000"/>
            </a:srgbClr>
          </a:solidFill>
          <a:ln w="10160">
            <a:solidFill>
              <a:srgbClr val="9CCA3C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224028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9CCA3C"/>
                </a:solidFill>
              </a:rPr>
              <a:t>BETTER QUESTION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208776" y="2587752"/>
            <a:ext cx="4636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Who owns the business impact of downtime?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6208776" y="3044952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IT, operations, finance, local site leadership, or executive leadership?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14</a:t>
            </a:r>
            <a:endParaRPr lang="en-US" sz="6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Influence Mapping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The account is not one person. It is a political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15</a:t>
            </a:r>
            <a:endParaRPr lang="en-US" sz="6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Champion is not the same as Economic Buyer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Friendliness is not influence. Influence is what happens when we are not in the room.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4892040" cy="2514600"/>
          </a:xfrm>
          <a:prstGeom prst="roundRect">
            <a:avLst>
              <a:gd name="adj" fmla="val 3273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54864" cy="25146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084832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176272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CHAMPION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42416" y="2523744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Coaches and helps us win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1042416" y="2980944"/>
            <a:ext cx="445312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Has influence, wants the outcome, shares process and politics, may or may not own budget.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6446520" y="1901952"/>
            <a:ext cx="4892040" cy="2514600"/>
          </a:xfrm>
          <a:prstGeom prst="roundRect">
            <a:avLst>
              <a:gd name="adj" fmla="val 3273"/>
            </a:avLst>
          </a:prstGeom>
          <a:solidFill>
            <a:srgbClr val="FBFD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01952"/>
            <a:ext cx="54864" cy="2514600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7688" y="2084832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9CCA3C">
              <a:alpha val="11000"/>
            </a:srgbClr>
          </a:solidFill>
          <a:ln w="10160">
            <a:solidFill>
              <a:srgbClr val="9CCA3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2176272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9CCA3C"/>
                </a:solidFill>
              </a:rPr>
              <a:t>ECONOMIC BUYER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665976" y="2523744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Can prioritize money and impact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665976" y="2980944"/>
            <a:ext cx="445312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Owns business impact, can release or approve spend, must understand why change matters.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16</a:t>
            </a:r>
            <a:endParaRPr lang="en-US" sz="6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Access path is a strategy, not a wish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We need a deliberate bridge from current access to decision access.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2066544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993392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Current access: who talks to us today?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43230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Desired access: who must hear the story?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944368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871216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Bridge contact: who can credibly open the door?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310128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Reason: why would they make the introduction?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822192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74904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Message: what earns the meeting?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26680" y="2039112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2039112"/>
            <a:ext cx="64008" cy="173736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7" name="Text 15"/>
          <p:cNvSpPr/>
          <p:nvPr/>
        </p:nvSpPr>
        <p:spPr>
          <a:xfrm>
            <a:off x="7982712" y="22677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181AA"/>
                </a:solidFill>
              </a:rPr>
              <a:t>ACCESS RULE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7982712" y="26334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“Get higher” is not a strategy. A credible bridge, reason, and message is.</a:t>
            </a:r>
            <a:endParaRPr lang="en-US" sz="1540" dirty="0"/>
          </a:p>
        </p:txBody>
      </p:sp>
      <p:sp>
        <p:nvSpPr>
          <p:cNvPr id="20" name="Shape 1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2" name="Text 1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17</a:t>
            </a:r>
            <a:endParaRPr lang="en-US" sz="6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Account Expansion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The first win should create proof, trust, and the next conversation.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18</a:t>
            </a:r>
            <a:endParaRPr lang="en-US" sz="6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Expansion is a sequence, not a product menu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wedge matters because it changes what the account believes about us.</a:t>
            </a:r>
            <a:endParaRPr lang="en-US" sz="107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Wireless backup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3520440" y="1883664"/>
            <a:ext cx="960120" cy="0"/>
          </a:xfrm>
          <a:prstGeom prst="line">
            <a:avLst/>
          </a:prstGeom>
          <a:noFill/>
          <a:ln w="13970">
            <a:solidFill>
              <a:srgbClr val="1181A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800600" y="1783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</a:rPr>
              <a:t>Continuity proof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Dedicated Internet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3520440" y="2386584"/>
            <a:ext cx="960120" cy="0"/>
          </a:xfrm>
          <a:prstGeom prst="line">
            <a:avLst/>
          </a:prstGeom>
          <a:noFill/>
          <a:ln w="13970">
            <a:solidFill>
              <a:srgbClr val="1181A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80060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</a:rPr>
              <a:t>Performance and reliability proof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Managed firewall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3520440" y="2889504"/>
            <a:ext cx="960120" cy="0"/>
          </a:xfrm>
          <a:prstGeom prst="line">
            <a:avLst/>
          </a:prstGeom>
          <a:noFill/>
          <a:ln w="13970">
            <a:solidFill>
              <a:srgbClr val="1181A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800600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</a:rPr>
              <a:t>Risk reduction proof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SD-WAN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3520440" y="3392424"/>
            <a:ext cx="960120" cy="0"/>
          </a:xfrm>
          <a:prstGeom prst="line">
            <a:avLst/>
          </a:prstGeom>
          <a:noFill/>
          <a:ln w="13970">
            <a:solidFill>
              <a:srgbClr val="1181A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800600" y="3291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</a:rPr>
              <a:t>Multi-site control proof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Cloud Connect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3520440" y="3895344"/>
            <a:ext cx="960120" cy="0"/>
          </a:xfrm>
          <a:prstGeom prst="line">
            <a:avLst/>
          </a:prstGeom>
          <a:noFill/>
          <a:ln w="13970">
            <a:solidFill>
              <a:srgbClr val="1181A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00600" y="3794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</a:rPr>
              <a:t>Secure app access proof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868680" y="4800600"/>
            <a:ext cx="9829800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800600"/>
            <a:ext cx="64008" cy="786384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8136" y="498348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507492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MANAGER PROMPT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088136" y="5321808"/>
            <a:ext cx="9390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0F172A"/>
                </a:solidFill>
              </a:rPr>
              <a:t>What first move gives us permission to become more strategic?</a:t>
            </a:r>
            <a:endParaRPr lang="en-US" sz="1270" dirty="0"/>
          </a:p>
        </p:txBody>
      </p:sp>
      <p:sp>
        <p:nvSpPr>
          <p:cNvPr id="26" name="Shape 2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8" name="Text 25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19</a:t>
            </a:r>
            <a:endParaRPr lang="en-US" sz="6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Battlefield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Respect incumbent gravity before trying to displace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20</a:t>
            </a:r>
            <a:endParaRPr lang="en-US" sz="6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Why incumbents survive dissatisfaction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Even unhappy accounts stay when switching feels risky.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2066544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9933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Existing contracts and procurement familiarity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868680" y="245059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377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Embedded integrations and support routines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761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Executive relationships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868680" y="3218688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145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Operational dependency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5295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F172A"/>
                </a:solidFill>
              </a:rPr>
              <a:t>The known provider feels safer than change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6172200" y="1920240"/>
            <a:ext cx="4892040" cy="1874520"/>
          </a:xfrm>
          <a:prstGeom prst="roundRect">
            <a:avLst>
              <a:gd name="adj" fmla="val 4390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920240"/>
            <a:ext cx="54864" cy="187452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21031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219456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GPC ANGLE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391656" y="2542032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Show why they have outgrown the current model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6391656" y="2999232"/>
            <a:ext cx="44531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Name the gravity, then show the safer path forward.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21</a:t>
            </a:r>
            <a:endParaRPr lang="en-US" sz="6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Strategic Entry Points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Turn account strategy into person-specific 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22</a:t>
            </a:r>
            <a:endParaRPr lang="en-US" sz="6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Every important person gets a tailored playbook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If every contact gets the same message, we do not have an influence strategy.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1993392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92024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Why do they matter?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68680" y="2386584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31343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What pressure are they under?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68680" y="2779776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7066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What communication style will work?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0998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What should we avoid saying?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68680" y="356616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49300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What is the next best move?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868680" y="3959352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388620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F172A"/>
                </a:solidFill>
              </a:rPr>
              <a:t>Can they bridge us to someone else?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7818120" y="196596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965960"/>
            <a:ext cx="64008" cy="1600200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19" name="Text 17"/>
          <p:cNvSpPr/>
          <p:nvPr/>
        </p:nvSpPr>
        <p:spPr>
          <a:xfrm>
            <a:off x="8074152" y="21945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9CCA3C"/>
                </a:solidFill>
              </a:rPr>
              <a:t>INFLUENCE STRATEGY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8074152" y="2560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Different people need different proof, pressure, and next moves.</a:t>
            </a:r>
            <a:endParaRPr lang="en-US" sz="1540" dirty="0"/>
          </a:p>
        </p:txBody>
      </p:sp>
      <p:sp>
        <p:nvSpPr>
          <p:cNvPr id="22" name="Shape 19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23</a:t>
            </a:r>
            <a:endParaRPr lang="en-US" sz="6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09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How They Buy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The technical need and the buying motion are not the same thing.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24</a:t>
            </a:r>
            <a:endParaRPr lang="en-US" sz="6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Design the buying motion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Misread the buying process and we create friction instead of momentum.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74520"/>
            <a:ext cx="54864" cy="237744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5740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FRICTION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32688" y="249631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Process load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32688" y="2953512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Bureaucracy, procurement, legal, security, finance, consensus requirements.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389120" y="187452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874520"/>
            <a:ext cx="54864" cy="237744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0288" y="205740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14884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PSYCHOLOGY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608576" y="249631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Change appetite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608576" y="2953512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Risk tolerance, vendor loyalty, decision velocity, technical sophistication.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8065008" y="1874520"/>
            <a:ext cx="3429000" cy="237744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1874520"/>
            <a:ext cx="54864" cy="237744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6176" y="205740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14884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BYPASS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284464" y="249631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Legitimate path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8284464" y="2953512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Pilot, risk workshop, executive sponsor, site proof, business impact review.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25</a:t>
            </a:r>
            <a:endParaRPr lang="en-US" sz="6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30 / 60 / 90 Plan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Strategy without next moves is theater.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26</a:t>
            </a:r>
            <a:endParaRPr lang="en-US" sz="67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The Give/Get principle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If the customer gives nothing, we may not have real momentum.</a:t>
            </a:r>
            <a:endParaRPr lang="en-US" sz="107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We deliver a network design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5074920" y="1755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181AA"/>
                </a:solidFill>
              </a:rPr>
              <a:t>GET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5623560" y="1847088"/>
            <a:ext cx="658368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They provide site inventory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868680" y="23042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We schedule an executive workshop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074920" y="23225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181AA"/>
                </a:solidFill>
              </a:rPr>
              <a:t>GET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5623560" y="2414016"/>
            <a:ext cx="658368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3042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They bring IT, finance, and operations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68680" y="28712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We produce a resiliency assessment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074920" y="28895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181AA"/>
                </a:solidFill>
              </a:rPr>
              <a:t>GET</a:t>
            </a:r>
            <a:endParaRPr lang="en-US" sz="630" dirty="0"/>
          </a:p>
        </p:txBody>
      </p:sp>
      <p:sp>
        <p:nvSpPr>
          <p:cNvPr id="15" name="Shape 13"/>
          <p:cNvSpPr/>
          <p:nvPr/>
        </p:nvSpPr>
        <p:spPr>
          <a:xfrm>
            <a:off x="5623560" y="2980944"/>
            <a:ext cx="658368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8712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They share outage history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We bring security expertise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5074920" y="34564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181AA"/>
                </a:solidFill>
              </a:rPr>
              <a:t>GET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5623560" y="3547872"/>
            <a:ext cx="658368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4381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They include the security decision-maker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68680" y="40050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We draft pricing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074920" y="40233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181AA"/>
                </a:solidFill>
              </a:rPr>
              <a:t>GET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5623560" y="4114800"/>
            <a:ext cx="658368" cy="0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050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They confirm decision process and timing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8" name="Text 25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27</a:t>
            </a:r>
            <a:endParaRPr lang="en-US" sz="6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CA3C"/>
                </a:solidFill>
              </a:rPr>
              <a:t>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Relationship Timeline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7977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D5DE"/>
                </a:solidFill>
              </a:rPr>
              <a:t>Separate activity from meaningful signal.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858768"/>
            <a:ext cx="4023360" cy="0"/>
          </a:xfrm>
          <a:prstGeom prst="line">
            <a:avLst/>
          </a:prstGeom>
          <a:noFill/>
          <a:ln w="25400">
            <a:solidFill>
              <a:srgbClr val="118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0"/>
            <a:ext cx="2194560" cy="6858000"/>
          </a:xfrm>
          <a:prstGeom prst="rtTriangle">
            <a:avLst/>
          </a:prstGeom>
          <a:solidFill>
            <a:srgbClr val="092E4C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9738360" y="1691640"/>
            <a:ext cx="2450592" cy="5166360"/>
          </a:xfrm>
          <a:prstGeom prst="rtTriangle">
            <a:avLst/>
          </a:prstGeom>
          <a:solidFill>
            <a:srgbClr val="9CCA3C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2" name="Text 9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28</a:t>
            </a:r>
            <a:endParaRPr lang="en-US" sz="67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Activity vs. signal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A signal tells us what changed.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892040" cy="2148840"/>
          </a:xfrm>
          <a:prstGeom prst="roundRect">
            <a:avLst>
              <a:gd name="adj" fmla="val 3830"/>
            </a:avLst>
          </a:prstGeom>
          <a:solidFill>
            <a:srgbClr val="FFF8F1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" cy="2148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14884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B45309">
              <a:alpha val="11000"/>
            </a:srgbClr>
          </a:solidFill>
          <a:ln w="10160">
            <a:solidFill>
              <a:srgbClr val="B45309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24028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45309"/>
                </a:solidFill>
              </a:rPr>
              <a:t>ACTIVITY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42416" y="2587752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Had call with IT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1042416" y="3044952"/>
            <a:ext cx="44531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Something happened. It may or may not indicate strategic progress.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6446520" y="1965960"/>
            <a:ext cx="4892040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65960"/>
            <a:ext cx="54864" cy="214884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7688" y="214884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224028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SIGNAL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665976" y="2587752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IT confirmed outages are now visible to operations leadership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665976" y="3044952"/>
            <a:ext cx="44531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Something changed. We learned pain, urgency, audience, and likely next move.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29</a:t>
            </a:r>
            <a:endParaRPr lang="en-US" sz="6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Operating cadence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SAOS becomes powerful when it changes the review conversation.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713232" y="1865376"/>
            <a:ext cx="3429000" cy="2423160"/>
          </a:xfrm>
          <a:prstGeom prst="roundRect">
            <a:avLst>
              <a:gd name="adj" fmla="val 3396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65376"/>
            <a:ext cx="54864" cy="242316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48256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39696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WEEKLY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32688" y="2487168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Strategic account review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32688" y="2944368"/>
            <a:ext cx="29900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Why this account? Why now? Who matters? What changed? What does the customer owe us?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389120" y="1865376"/>
            <a:ext cx="3429000" cy="2423160"/>
          </a:xfrm>
          <a:prstGeom prst="roundRect">
            <a:avLst>
              <a:gd name="adj" fmla="val 3396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865376"/>
            <a:ext cx="54864" cy="242316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0288" y="2048256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139696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MONTHLY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608576" y="2487168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Portfolio review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608576" y="2944368"/>
            <a:ext cx="29900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Find weak Big Plays, missing economic buyers, activity without signals, and accounts needing executive sponsorship.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8065008" y="1865376"/>
            <a:ext cx="3429000" cy="2423160"/>
          </a:xfrm>
          <a:prstGeom prst="roundRect">
            <a:avLst>
              <a:gd name="adj" fmla="val 3396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1865376"/>
            <a:ext cx="54864" cy="242316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6176" y="2048256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139696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EVERY CALL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284464" y="2487168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Pre/post discipline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8284464" y="2944368"/>
            <a:ext cx="29900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Prepare with Big Play, Blindspots, Entry Points. Afterward, log what changed.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30</a:t>
            </a:r>
            <a:endParaRPr lang="en-US" sz="67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Quality bar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A strong SAOS plan is clear enough for any leader to inspect.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1956816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883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Specific: names, dates, triggers, sites, providers, pain, and next moves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304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Executive-relevant: written in business language, not product shorthand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868680" y="2798064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724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Politically aware: maps influence and access honestly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68680" y="3218688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1455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Evidence-based: separates assumptions from known facts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68680" y="3639312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566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Expansion-minded: starts with the wedge and thinks beyond it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68680" y="4059936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39867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Current: updated as the account changes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635240" y="2121408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2121408"/>
            <a:ext cx="64008" cy="1691640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19" name="Text 17"/>
          <p:cNvSpPr/>
          <p:nvPr/>
        </p:nvSpPr>
        <p:spPr>
          <a:xfrm>
            <a:off x="7891272" y="235000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9CCA3C"/>
                </a:solidFill>
              </a:rPr>
              <a:t>INSPECTION TEST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7891272" y="27157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A leader should understand the pursuit without needing the rep to narrate the whole history.</a:t>
            </a:r>
            <a:endParaRPr lang="en-US" sz="1540" dirty="0"/>
          </a:p>
        </p:txBody>
      </p:sp>
      <p:sp>
        <p:nvSpPr>
          <p:cNvPr id="22" name="Shape 19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31</a:t>
            </a:r>
            <a:endParaRPr lang="en-US" sz="6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Red flags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These are coaching moments, not shame moments.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755648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The Big Play sounds like a product pitch.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2203704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13055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No economic buyer is identified.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868680" y="2578608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505456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The champion is just someone who likes us.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68680" y="295351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880360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The incumbent is treated as incompetent without evidence.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68680" y="3328416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255264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Account expansion is a product menu.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68680" y="3703320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3630168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The 30 / 60 / 90 Plan has no customer commitments.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68680" y="4078224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124712" y="400507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The Relationship Timeline is all activity and no signals.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635240" y="2121408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121408"/>
            <a:ext cx="64008" cy="1508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7891272" y="235000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COACH THE GAP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891272" y="27157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Red flags are not failures. They show where the next coaching question belongs.</a:t>
            </a:r>
            <a:endParaRPr lang="en-US" sz="154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32</a:t>
            </a:r>
            <a:endParaRPr lang="en-US" sz="6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Workshop exercise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Pick one real Tier 1 account. Answer only three questions.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713232" y="196596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65960"/>
            <a:ext cx="54864" cy="20574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4884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181AA">
              <a:alpha val="11000"/>
            </a:srgbClr>
          </a:solidFill>
          <a:ln w="10160">
            <a:solidFill>
              <a:srgbClr val="1181AA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181AA"/>
                </a:solidFill>
              </a:rPr>
              <a:t>QUESTION 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32688" y="258775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What is The Big Play?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932688" y="3044952"/>
            <a:ext cx="29900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Compare answers across the room. Disagreement exposes the strategy gap.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BFDF7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965960"/>
            <a:ext cx="54864" cy="2057400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0288" y="214884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9CCA3C">
              <a:alpha val="11000"/>
            </a:srgbClr>
          </a:solidFill>
          <a:ln w="10160">
            <a:solidFill>
              <a:srgbClr val="9CCA3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24028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9CCA3C"/>
                </a:solidFill>
              </a:rPr>
              <a:t>QUESTION 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608576" y="258775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Who is the economic buyer and who is the champion?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608576" y="3044952"/>
            <a:ext cx="29900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Separate friendliness from influence and budget authority.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8065008" y="196596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1430">
            <a:solidFill>
              <a:srgbClr val="D9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1965960"/>
            <a:ext cx="54864" cy="2057400"/>
          </a:xfrm>
          <a:prstGeom prst="rect">
            <a:avLst/>
          </a:prstGeom>
          <a:solidFill>
            <a:srgbClr val="092E4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6176" y="214884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092E4C">
              <a:alpha val="11000"/>
            </a:srgbClr>
          </a:solidFill>
          <a:ln w="10160">
            <a:solidFill>
              <a:srgbClr val="092E4C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240280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92E4C"/>
                </a:solidFill>
              </a:rPr>
              <a:t>QUESTION 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284464" y="2587752"/>
            <a:ext cx="2990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What is the first wedge and what does it unlock?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8284464" y="3044952"/>
            <a:ext cx="299008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</a:rPr>
              <a:t>Expansion starts with the first proof point.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6" name="Text 23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33</a:t>
            </a:r>
            <a:endParaRPr lang="en-US" sz="67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DE"/>
                </a:solidFill>
              </a:rPr>
              <a:t>Change the inspection question.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FC1CE"/>
                </a:solidFill>
              </a:rPr>
              <a:t>Instead of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"Did you update the plan?"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37490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FC1CE"/>
                </a:solidFill>
              </a:rPr>
              <a:t>Ask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409651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CA3C"/>
                </a:solidFill>
              </a:rPr>
              <a:t>"What did the plan teach us this week?"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1" name="Text 8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34</a:t>
            </a:r>
            <a:endParaRPr lang="en-US" sz="6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Launch expectations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Suggested minimum standard for early adoption.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1975104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901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Tier the account and explain why it matters.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304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Write a real Big Play and action-forcing event.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68680" y="2779776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7066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Map champion, economic buyer, blockers, and access path.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868680" y="3182112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1089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Define the first wedge and expansion path.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868680" y="3584448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5112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Log meaningful signals after major interactions.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868680" y="3986784"/>
            <a:ext cx="118872" cy="118872"/>
          </a:xfrm>
          <a:prstGeom prst="ellipse">
            <a:avLst/>
          </a:prstGeom>
          <a:solidFill>
            <a:srgbClr val="1181AA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3913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0F172A"/>
                </a:solidFill>
              </a:rPr>
              <a:t>Maintain a 30 / 60 / 90 Plan with customer commitments.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7909560" y="2148840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2148840"/>
            <a:ext cx="64008" cy="132588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19" name="Text 17"/>
          <p:cNvSpPr/>
          <p:nvPr/>
        </p:nvSpPr>
        <p:spPr>
          <a:xfrm>
            <a:off x="8165592" y="23774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181AA"/>
                </a:solidFill>
              </a:rPr>
              <a:t>LAUNCH BAR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8165592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The first standard is clarity, not perfection.</a:t>
            </a:r>
            <a:endParaRPr lang="en-US" sz="1540" dirty="0"/>
          </a:p>
        </p:txBody>
      </p:sp>
      <p:sp>
        <p:nvSpPr>
          <p:cNvPr id="22" name="Shape 19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35</a:t>
            </a:r>
            <a:endParaRPr lang="en-US" sz="67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207008" cy="64008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13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What good looks like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Any leader should be able to read the plan and understand the pursuit.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68680" y="1856232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783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Why the account matters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68680" y="2185416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1122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Why the account may change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4414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Where GPC can create differentiated value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2843784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770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Who must be influenced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0998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Where the risk is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68680" y="3502152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3429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What we will do next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68680" y="3831336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24712" y="37581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What the customer must do next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68680" y="4160520"/>
            <a:ext cx="118872" cy="118872"/>
          </a:xfrm>
          <a:prstGeom prst="ellipse">
            <a:avLst/>
          </a:prstGeom>
          <a:solidFill>
            <a:srgbClr val="9CCA3C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" y="40873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What expansion could become possible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7635240" y="21488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051B2D">
              <a:alpha val="98000"/>
            </a:srgbClr>
          </a:solidFill>
          <a:ln w="10160">
            <a:solidFill>
              <a:srgbClr val="092E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2148840"/>
            <a:ext cx="64008" cy="1554480"/>
          </a:xfrm>
          <a:prstGeom prst="rect">
            <a:avLst/>
          </a:prstGeom>
          <a:solidFill>
            <a:srgbClr val="9CCA3C"/>
          </a:solidFill>
          <a:ln/>
        </p:spPr>
      </p:sp>
      <p:sp>
        <p:nvSpPr>
          <p:cNvPr id="23" name="Text 21"/>
          <p:cNvSpPr/>
          <p:nvPr/>
        </p:nvSpPr>
        <p:spPr>
          <a:xfrm>
            <a:off x="7891272" y="237744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9CCA3C"/>
                </a:solidFill>
              </a:rPr>
              <a:t>SIMPLE STANDARD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7891272" y="2743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FFFFFF"/>
                </a:solidFill>
              </a:rPr>
              <a:t>Clear plans create faster coaching, better executive help, and sharper customer action.</a:t>
            </a:r>
            <a:endParaRPr lang="en-US" sz="1540" dirty="0"/>
          </a:p>
        </p:txBody>
      </p:sp>
      <p:sp>
        <p:nvSpPr>
          <p:cNvPr id="26" name="Shape 2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D9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28" name="Text 25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94A3B8"/>
                </a:solidFill>
              </a:rPr>
              <a:t>36</a:t>
            </a:r>
            <a:endParaRPr lang="en-US" sz="67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1A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5DE"/>
                </a:solidFill>
              </a:rPr>
              <a:t>The close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best plans will not be the longest.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They will be the clearest.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CCA3C"/>
                </a:solidFill>
              </a:rPr>
              <a:t>Why this account?   Why change?   Why now?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9CCA3C"/>
                </a:solidFill>
              </a:rPr>
              <a:t>Why GPC?   Who matters?   What happens next?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49834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5DE"/>
                </a:solidFill>
              </a:rPr>
              <a:t>SAOS gives us the common operating system to answer those questions with precision.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8890">
            <a:solidFill>
              <a:srgbClr val="25455C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STRATEGIC ACCOUNT OS ROLLOUT</a:t>
            </a:r>
            <a:endParaRPr lang="en-US" sz="670" dirty="0"/>
          </a:p>
        </p:txBody>
      </p:sp>
      <p:sp>
        <p:nvSpPr>
          <p:cNvPr id="10" name="Text 7"/>
          <p:cNvSpPr/>
          <p:nvPr/>
        </p:nvSpPr>
        <p:spPr>
          <a:xfrm>
            <a:off x="11213287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AFC1CE"/>
                </a:solidFill>
              </a:rPr>
              <a:t>37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Great Plains Communications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SAOS Retreat Rollout</dc:title>
  <dc:subject>Strategic Account Operating System rollout</dc:subject>
  <dc:creator>Great Plains Communications</dc:creator>
  <cp:lastModifiedBy>Great Plains Communications</cp:lastModifiedBy>
  <cp:revision>1</cp:revision>
  <dcterms:created xsi:type="dcterms:W3CDTF">2026-07-08T16:33:22Z</dcterms:created>
  <dcterms:modified xsi:type="dcterms:W3CDTF">2026-07-08T16:33:22Z</dcterms:modified>
</cp:coreProperties>
</file>