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cover. Position the deck as a polished, synthesized companion to the full user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system of record with system of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spine of the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frame the rest of the training: operating flow first, feature names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navigation before moving into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Center is the user daily rhythm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Contacts are the relationship hub; Accounts are the company 360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 contact hygiene.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Accounts are the pre-meeting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deal operating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campaigns vs sequences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sequence/campaign execution as an operating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Cognito workflow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that Social Hub does not post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IRR/proposals to late-stage opportunity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SAOS pointer only; refer to SAOS handbook for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external system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usage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high-leverage CRM quality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principle from the handbook.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234440"/>
            <a:ext cx="5852160" cy="8961120"/>
          </a:xfrm>
          <a:prstGeom prst="ellipse">
            <a:avLst/>
          </a:prstGeom>
          <a:solidFill>
            <a:srgbClr val="DBEAFE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9070848" y="5166360"/>
            <a:ext cx="2240280" cy="15544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566928"/>
            <a:ext cx="1572768" cy="10490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" y="1874520"/>
            <a:ext cx="118872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" y="22402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Constellation CRM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User Handbook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345643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A practical guide to the main CRM operating system: what each module does, why it matters, and how users work through the day.</a:t>
            </a:r>
            <a:endParaRPr lang="en-US" sz="1360" dirty="0"/>
          </a:p>
        </p:txBody>
      </p:sp>
      <p:sp>
        <p:nvSpPr>
          <p:cNvPr id="8" name="Shape 5"/>
          <p:cNvSpPr/>
          <p:nvPr/>
        </p:nvSpPr>
        <p:spPr>
          <a:xfrm>
            <a:off x="749808" y="4407408"/>
            <a:ext cx="1865376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50342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CLARITY OVER CHAOS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2788920" y="4407408"/>
            <a:ext cx="23317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07792" y="4503420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AUTOMATE THE ANNOYING STUFF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749808" y="4864608"/>
            <a:ext cx="281635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960620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INTELLIGENCE IS A SALES ADVANTAGE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01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Constellation is a system of engagement, not just a place to store records.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45720" cy="2788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</a:rPr>
              <a:t>TRADITIONAL CRM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78408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Stores What Happened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78408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Accounts, contacts, activities, deals, tasks, and records of work.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6248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CONSTELLATION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583680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Turns Work Into Movement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Priorities, outreach, intelligence, pipeline health, proposals, business cases, and strategic account planning.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02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Operating Principles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These principles should shape how users interpret every page.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6420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3794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339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01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Clarity Over Chaos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65176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Briefings, filters, status icons, and clean views show what needs attention.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66420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66420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83794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9339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02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24942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Automate the Annoying Stuff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65176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Sequences, campaigns, imports, AI writing, and exports reduce repetitive 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66420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66420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83794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9339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03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24942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Intelligence Is an Advantage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65176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Cognito, AI briefings, activity insights, and Social Hub create better timing and language.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03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Fits Together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Constellation is organized around the real operating flow of sales work.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841248" y="19019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80160" y="19019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Navigate and find records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41248" y="23500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80160" y="2350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Start the day in Command Center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41248" y="27980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0160" y="27980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Work people and companies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41248" y="32461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Manage pipeline and forecast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41248" y="36941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80160" y="36941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Execute outreach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41248" y="41422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41422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Act on intelligence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41248" y="45902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7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80160" y="45902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Model, propose, and plan strategically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446520" y="2029968"/>
            <a:ext cx="411480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3042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CRM is most valuable when it turns sales data into sales movement.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04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and Search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The shared shell keeps users from getting trapped in one module.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00253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985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SEARCH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41401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Find Records Fast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81635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Global search jumps to contacts, accounts, and deals from anywhere.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82880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82880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200253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0985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MENU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41401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Templates and Session Controls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81635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CSV templates, AI Admin access when available, and logout live in the bottom menu.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82880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82880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200253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209854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SIGNALS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41401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Notification Dots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81635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Cognito and Social Hub bells show new intelligence or content since last visit.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05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 Is the Daily Starting Point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One page for priorities, tasks, due outreach, and recent work.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92938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18745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AI Daily Briefing prioritizes what matters now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68680" y="234086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2860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My Tasks keeps manual follow-up visible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68680" y="275234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6974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Sequence Steps executes due outreach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68680" y="316382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31089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Recent Activities shows what just happened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68680" y="357530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35204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Log to Salesforce closes the compliance loop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720840" y="214884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42316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Start here when you need to decide what to do next.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06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and Accounts Are the Relationship Core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People and companies are separate views of the same sales reality.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CONTACTS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78408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Person-Level Execution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78408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Sequence status, AI email drafting, activity insight, BCC email history, tasks, and Salesforce activity logging.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6248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ACCOUNTS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583680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Company-Level Context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Firmographics, org chart, deals, proposals, AI briefing, meeting agenda, activities, tasks, and SAOS entry point.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07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Contacts: What Good Usage Looks Like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A useful contact record helps a rep know who the person is and what to do next.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90195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184708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Correct account, title, email, phone, and notes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34086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28600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Sequence enrollment reflects the current outreach path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77977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7249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Activities and BCC-logged emails capture meaningful history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21868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316382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AI insight is useful because the activity history is current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360273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Tasks are linked when follow-up matters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73568" y="1938528"/>
            <a:ext cx="306324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1938528"/>
            <a:ext cx="4572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211226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220827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RULE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02168" y="25237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If the Person Matters, Keep the Context Current.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202168" y="2926080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Weak contact records create weak outreach.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08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Accounts: Meeting Prep in One Place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The account page should answer the core customer context questions.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3736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1109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0710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CONTEXT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32257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Who Are They?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72491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Firmographics, customer status, Salesforce/ZoomInfo links, and notes.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7373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73736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91109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00710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MOTION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32257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What Is Active?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72491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Current deals, proposals, activities, tasks, and contact relationships.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737360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73736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91109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200710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PREP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32257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What Should We Say?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724912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AI briefing, agenda builder, org chart, and strategic account plan handoff.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09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Deals: Forecast and Pipeline Discipline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Deals is where opportunity status becomes forecast language.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88366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18288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Commit means the rep is calling the deal for the current close month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868680" y="22768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2219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Best Case includes all open deals closing this month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868680" y="267004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61518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Renewals stay visible but are excluded from new-business forecast metrics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300837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Closed Lost preserves history; deals are not deleted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868680" y="345643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340156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</a:rPr>
              <a:t>Board view manages stage movement; list view manages detail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772400" y="2121408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39572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b="1" dirty="0">
                <a:solidFill>
                  <a:srgbClr val="0F172A"/>
                </a:solidFill>
              </a:rPr>
              <a:t>A useful pipeline is honest enough for leadership to act on.</a:t>
            </a:r>
            <a:endParaRPr lang="en-US" sz="182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10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and Sequences Solve Different Problems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Both support outreach discipline, but they are not interchangeable.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CAMPAIGNS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78408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Curated Outreach Sprints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78408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One-time Call Blitz or Guided Email runs. Users choose exact contacts through the cart and work them directly in Campaigns.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6248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SEQUENCES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583680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Reusable Multi-Touch Playbooks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Step-based outreach paths with delays, owners, AI generation, imports, and bulk assignment. Due steps are worked later.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11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Outreach Engine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A simple operating model for repeatable prospecting and follow-up.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99032" y="182880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</a:rPr>
              <a:t>Build or import a sequence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960120" y="23042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99032" y="230428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</a:rPr>
              <a:t>Enroll the right contacts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960120" y="27797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99032" y="27797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</a:rPr>
              <a:t>Work due steps from Command Center or Contacts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99032" y="32552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</a:rPr>
              <a:t>Use campaigns for short focused sprints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960120" y="37307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99032" y="373075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</a:rPr>
              <a:t>Log meaningful outcomes and follow-up tasks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7909560" y="201168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011680"/>
            <a:ext cx="45720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0728" y="218541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28142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STANDARD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138160" y="25968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Outreach Should Leave a Trail.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138160" y="2999232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The next rep, manager, or AI summary should be able to see what happened.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12</a:t>
            </a:r>
            <a:endParaRPr lang="en-US" sz="6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 Turns Account News Into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Intelligence is only valuable if it creates a next move.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83794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17830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Review new alerts and high relevance scores first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14884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Open Action Center for AI-drafted outreach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868680" y="256946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51460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Select the right contact with an email address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868680" y="293522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288036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Copy or open the draft in your email client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324612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Log the interaction and create a follow-up task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68680" y="366674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106424" y="36118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</a:rPr>
              <a:t>Mark completed when the signal has been handled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001000" y="2084832"/>
            <a:ext cx="2971800" cy="1755648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359152"/>
            <a:ext cx="2331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b="1" dirty="0">
                <a:solidFill>
                  <a:srgbClr val="0F172A"/>
                </a:solidFill>
              </a:rPr>
              <a:t>Do not just read the signal. Convert it into customer action.</a:t>
            </a:r>
            <a:endParaRPr lang="en-US" sz="173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13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Hub Supports Consistent Public Presence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Share relevant content without starting from a blank page.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5564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92938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2539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AI CONTENT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34086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Curated News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74320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News articles with AI-assisted LinkedIn captions.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75564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75564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92938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02539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MARKETING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34086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Approved Campaign Posts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74320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Pre-approved copy with image library support when available.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755648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755648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92938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202539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IMPORTANT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34086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User Still Posts Manually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743200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Constellation copies text and opens LinkedIn. The rep pastes and posts.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14</a:t>
            </a:r>
            <a:endParaRPr lang="en-US" sz="6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and Proposals Move Deals Toward Approval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When opportunity work becomes financial or customer-facing, these tools take over.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749808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IRR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78408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Model the Business Case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78408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Multi-site inputs, target IRR, timeline settings, stress testing, Salesforce CSV import, PDF and CSV exports.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1847088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47088"/>
            <a:ext cx="45720" cy="2788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6248" y="2020824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168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PROPOSALS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583680" y="243230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Deliver the Customer Artifact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6177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Reusable modules, cover letter, pricing options, Salesforce import, compile/generate workflow, .spec save, account-linked proposals.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15</a:t>
            </a:r>
            <a:endParaRPr lang="en-US" sz="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SAOS Is the Strategic Planning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Use SAOS when account work needs more than tactical CRM execution.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868680" y="192938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06424" y="18745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account is strategically important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276856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Multiple stakeholders influence the 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7340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67919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path to change is unclear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13639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06424" y="3081528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Expansion potential matters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53872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06424" y="3483864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Leadership needs a clear plan or export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20574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0F172A"/>
                </a:solidFill>
              </a:rPr>
              <a:t>Main CRM captures execution. SAOS captures strategic judgment.</a:t>
            </a:r>
            <a:endParaRPr lang="en-US" sz="1880" dirty="0"/>
          </a:p>
        </p:txBody>
      </p:sp>
      <p:sp>
        <p:nvSpPr>
          <p:cNvPr id="17" name="Shape 1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16</a:t>
            </a:r>
            <a:endParaRPr lang="en-US" sz="6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Systems: The Practical Reality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Constellation reduces switching, but some actions still finish outside the CRM.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SALESFORCE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Official Task and Record Sync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Activity logging opens pre-filled Salesforce tasks; imports support IRR and proposals.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ZOOMINFO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Research Enrichment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Account and contact workflows can open ZoomInfo for deeper research.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LINKEDIN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User-Completed Actions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Sequence and Social Hub actions may copy text and open LinkedIn, but users complete the post or message.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17</a:t>
            </a:r>
            <a:endParaRPr lang="en-US" sz="6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Good Daily Usage Looks Like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Useful CRM work creates clear next action.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18288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Review AI Daily Briefing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52144" y="2231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Clear urgent tasks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14400" y="268833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" y="26334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Work due sequence steps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144" y="30358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Log meaningful activity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914400" y="3493008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34381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Act on high-value Cognito alerts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812280" y="178308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783080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013448" y="1956816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05282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QUALITY BAR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040880" y="2368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Record Should Explain What Happened and What Should Happen Next.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040880" y="2770632"/>
            <a:ext cx="34747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If it only stores noise, it is not helping the rep or the team.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18</a:t>
            </a:r>
            <a:endParaRPr lang="en-US" sz="6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1234440" cy="5486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315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Forecast, Meetings, and Proposals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Three moments where CRM discipline shows up clearly.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FORECAST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886968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Be Honest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86968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Commit only real deals, update close months, flag renewals, and move losses to Closed Lost.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25696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MEETINGS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654296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Prep From the Account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654296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Review contacts, org chart, activities, deals, proposals, AI briefing, agenda, and SAOS if needed.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1700784"/>
            <a:ext cx="3493008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700784"/>
            <a:ext cx="4572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874520"/>
            <a:ext cx="1536192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13064" y="197053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B82F6"/>
                </a:solidFill>
              </a:rPr>
              <a:t>PROPOSALS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8421624" y="228600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Clean Before Delivery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421624" y="2688336"/>
            <a:ext cx="3035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Confirm properties, pricing, placeholders, compile checks, and save to the account.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19</a:t>
            </a:r>
            <a:endParaRPr lang="en-US" sz="6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234440"/>
            <a:ext cx="5852160" cy="8961120"/>
          </a:xfrm>
          <a:prstGeom prst="ellipse">
            <a:avLst/>
          </a:prstGeom>
          <a:solidFill>
            <a:srgbClr val="DBEAFE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9070848" y="5166360"/>
            <a:ext cx="2240280" cy="15544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566928"/>
            <a:ext cx="1170432" cy="780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The Close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" y="18745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F172A"/>
                </a:solidFill>
              </a:rPr>
              <a:t>The Best CRM Usage Creates a Clear Next Action.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749808" y="3337560"/>
            <a:ext cx="7863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9848" y="3611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0F172A"/>
                </a:solidFill>
              </a:rPr>
              <a:t>If a record does not help you decide what happened, what matters, who is involved, what should change, or what to do next, it is just storage.</a:t>
            </a:r>
            <a:endParaRPr lang="en-US" sz="172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CONSTELLATION CRM USER GUIDE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1167567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94A3B8"/>
                </a:solidFill>
              </a:rPr>
              <a:t>20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Constellation CRM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Constellation CRM User Handbook</dc:title>
  <dc:subject>Constellation CRM User Handbook</dc:subject>
  <dc:creator>Constellation CRM</dc:creator>
  <cp:lastModifiedBy>Constellation CRM</cp:lastModifiedBy>
  <cp:revision>1</cp:revision>
  <dcterms:created xsi:type="dcterms:W3CDTF">2026-07-09T21:19:30Z</dcterms:created>
  <dcterms:modified xsi:type="dcterms:W3CDTF">2026-07-09T21:19:30Z</dcterms:modified>
</cp:coreProperties>
</file>